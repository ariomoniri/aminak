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126480"/>
            <a:ext cx="1164305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C7293"/>
                </a:solidFill>
                <a:latin typeface="Consolas"/>
              </a:rPr>
              <a:t>aminak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TYMS / dUMP structural-bioinformatics workbench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Phase 14 — Inhibitor design at four binding 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Four mechanistically distinct sites · 86 docked compounds · 7 reviewer/corrector rounds
Two real findings: Plevitrexed (ZD9331) above noise at the cofactor site, and a previously
under-explored druggable cavity on both TYMS protomers (FPocket 0.994 / 0.828).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github.com/ArioMoniri/aminak  ·  Built end-to-end with reviewer/corrector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1295C"/>
                </a:solidFill>
                <a:latin typeface="Georgia"/>
              </a:rPr>
              <a:t>The target — human TYMS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78899"/>
                </a:solidFill>
                <a:latin typeface="Calibri"/>
              </a:rPr>
              <a:t>UniProt P04818 · PDB 1HVY (1.9 Å, dUMP + raltitrexed bound) · obligate homodimer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What TYMS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0">
                <a:solidFill>
                  <a:srgbClr val="333333"/>
                </a:solidFill>
                <a:latin typeface="Calibri"/>
              </a:rPr>
              <a:t>Catalyses dUMP → dTMP using methylene-THF as the methyl donor.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0">
                <a:solidFill>
                  <a:srgbClr val="333333"/>
                </a:solidFill>
                <a:latin typeface="Calibri"/>
              </a:rPr>
              <a:t>The only de novo source of dTMP for DNA — proliferating cells depend on it.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0">
                <a:solidFill>
                  <a:srgbClr val="333333"/>
                </a:solidFill>
                <a:latin typeface="Calibri"/>
              </a:rPr>
              <a:t>Clinical target of 5-fluorouracil (5-FU): the prodrug is metabolised to 5-FdUMP, which traps TYMS in a covalent ternary complex.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0">
                <a:solidFill>
                  <a:srgbClr val="333333"/>
                </a:solidFill>
                <a:latin typeface="Calibri"/>
              </a:rPr>
              <a:t>Also target of raltitrexed, pemetrexed, methotrexate, nolatrexed, plevitrexed.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Phase 14 inverts 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0">
                <a:solidFill>
                  <a:srgbClr val="333333"/>
                </a:solidFill>
                <a:latin typeface="Calibri"/>
              </a:rPr>
              <a:t>Phases 1–13 asked: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1">
                <a:solidFill>
                  <a:srgbClr val="21295C"/>
                </a:solidFill>
                <a:latin typeface="Calibri"/>
              </a:rPr>
              <a:t>can rigid Vina resolve TYMS mutants?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0">
                <a:solidFill>
                  <a:srgbClr val="333333"/>
                </a:solidFill>
                <a:latin typeface="Calibri"/>
              </a:rPr>
              <a:t>Phase 14 asks: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1">
                <a:solidFill>
                  <a:srgbClr val="21295C"/>
                </a:solidFill>
                <a:latin typeface="Calibri"/>
              </a:rPr>
              <a:t>what molecules will out-compete dUMP, or bind elsewhere on the enzyme?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065A82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937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binding sites screened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0233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1C7293"/>
                </a:solidFill>
                <a:latin typeface="Calibri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937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docked compounds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402336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E67E22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49377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reviewer rounds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778899"/>
                </a:solidFill>
                <a:latin typeface="Calibri"/>
              </a:rPr>
              <a:t>Engine: AutoDock Vina 1.2.7 · Apple Silicon · Vina ±0.85 kcal/mol noise floor (Trott &amp; Olson 2010)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1295C"/>
                </a:solidFill>
                <a:latin typeface="Georgia"/>
              </a:rPr>
              <a:t>8 phases — Stage 1 → Phase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Each phase is a numbered folder; each version reuses the previous; each reviewed by independent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188720" cy="38404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1+2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544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MSA + JS conservation + active-site annotation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5544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01_msa, 02_active_site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1188720" cy="38404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3+4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0116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Dimer-aware structure prep + PyMOL renders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0116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03_structure, 04_pymol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68880"/>
            <a:ext cx="1188720" cy="38404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4688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Ligand prep (dUMP)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4688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05_ligand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1188720" cy="38404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260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Wild-type Vina docking (apo + holo)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9260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06_docking_wt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83280"/>
            <a:ext cx="1188720" cy="38404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3832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Mutagenesis ×20 ×2 conditions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3832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07_mut_docking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1188720" cy="38404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8+9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8404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Aggregate analysis + reports + 3Dmol viewers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8404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08_analysis, 09_report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1188720" cy="38404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Phase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2976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Modeller homology modelling (Lovell-validated)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2976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10_modeller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54880"/>
            <a:ext cx="1188720" cy="38404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Phase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7548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Multi-replica Vina + SASA + AlphaFold + phylogeny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7548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12_phase7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12080"/>
            <a:ext cx="1188720" cy="38404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Phase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2120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Vinardo + flex-residue Vina (smarter scoring)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2120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13_phase8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669280"/>
            <a:ext cx="1188720" cy="38404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10000" bIns="1000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Phase 14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6692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Inhibitor design at 4 binding sites (this presentation)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6692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778899"/>
                </a:solidFill>
                <a:latin typeface="Consolas"/>
              </a:rPr>
              <a:t>14_inhibitor_design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PRIOR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Georgia"/>
              </a:rPr>
              <a:t>Phases 1–13 — what we already knew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78899"/>
                </a:solidFill>
                <a:latin typeface="Calibri"/>
              </a:rPr>
              <a:t>The mutagenesis null result that motivated Phase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430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1">
                <a:solidFill>
                  <a:srgbClr val="065A82"/>
                </a:solidFill>
                <a:latin typeface="Calibri"/>
              </a:rPr>
              <a:t>Phase 1–2: </a:t>
            </a:r>
            <a:r>
              <a:rPr sz="1300" b="0">
                <a:solidFill>
                  <a:srgbClr val="333333"/>
                </a:solidFill>
                <a:latin typeface="Calibri"/>
              </a:rPr>
              <a:t>TYMS active site is highly conserved across 10 orthologs (JS-divergence + UniProt + PDBe).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1">
                <a:solidFill>
                  <a:srgbClr val="065A82"/>
                </a:solidFill>
                <a:latin typeface="Calibri"/>
              </a:rPr>
              <a:t>Phase 5–6: </a:t>
            </a:r>
            <a:r>
              <a:rPr sz="1300" b="0">
                <a:solidFill>
                  <a:srgbClr val="333333"/>
                </a:solidFill>
                <a:latin typeface="Calibri"/>
              </a:rPr>
              <a:t>Wild-type dUMP docks at </a:t>
            </a:r>
            <a:r>
              <a:rPr sz="1300" b="1">
                <a:solidFill>
                  <a:srgbClr val="21295C"/>
                </a:solidFill>
                <a:latin typeface="Calibri"/>
              </a:rPr>
              <a:t>−8.78 kcal/mol</a:t>
            </a:r>
            <a:r>
              <a:rPr sz="1300" b="0">
                <a:solidFill>
                  <a:srgbClr val="333333"/>
                </a:solidFill>
                <a:latin typeface="Calibri"/>
              </a:rPr>
              <a:t> into the chain-A active-site of the 1HVY-derived dimer.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1">
                <a:solidFill>
                  <a:srgbClr val="E67E22"/>
                </a:solidFill>
                <a:latin typeface="Calibri"/>
              </a:rPr>
              <a:t>Phase 7 (★ key finding): </a:t>
            </a:r>
            <a:r>
              <a:rPr sz="1300" b="0">
                <a:solidFill>
                  <a:srgbClr val="333333"/>
                </a:solidFill>
                <a:latin typeface="Calibri"/>
              </a:rPr>
              <a:t>Rigid Vina + AD4 partial charges </a:t>
            </a:r>
            <a:r>
              <a:rPr sz="1300" b="1">
                <a:solidFill>
                  <a:srgbClr val="C0392B"/>
                </a:solidFill>
                <a:latin typeface="Calibri"/>
              </a:rPr>
              <a:t>cannot resolve TYMS active-site mutants at the kcal scale</a:t>
            </a:r>
            <a:r>
              <a:rPr sz="1300" b="0">
                <a:solidFill>
                  <a:srgbClr val="333333"/>
                </a:solidFill>
                <a:latin typeface="Calibri"/>
              </a:rPr>
              <a:t>. Across 20 mutants × 2 conditions, the largest holo Δ score is </a:t>
            </a:r>
            <a:r>
              <a:rPr sz="1300" b="1">
                <a:solidFill>
                  <a:srgbClr val="C0392B"/>
                </a:solidFill>
                <a:latin typeface="Calibri"/>
              </a:rPr>
              <a:t>+0.77 kcal/mol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below the Vina noise floor of ±0.85 kcal/mol.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1">
                <a:solidFill>
                  <a:srgbClr val="065A82"/>
                </a:solidFill>
                <a:latin typeface="Calibri"/>
              </a:rPr>
              <a:t>Phase 8: </a:t>
            </a:r>
            <a:r>
              <a:rPr sz="1300" b="0">
                <a:solidFill>
                  <a:srgbClr val="333333"/>
                </a:solidFill>
                <a:latin typeface="Calibri"/>
              </a:rPr>
              <a:t>Vinardo rescoring + flexible-residue Vina partially fix the C195A illusion, but the R→E sign error needs proper PB electrostatics (MM-GBSA / FEP).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▸ </a:t>
            </a:r>
            <a:r>
              <a:rPr sz="1300" b="1">
                <a:solidFill>
                  <a:srgbClr val="065A82"/>
                </a:solidFill>
                <a:latin typeface="Calibri"/>
              </a:rPr>
              <a:t>Phase 6 (Modeller): </a:t>
            </a:r>
            <a:r>
              <a:rPr sz="1300" b="0">
                <a:solidFill>
                  <a:srgbClr val="333333"/>
                </a:solidFill>
                <a:latin typeface="Calibri"/>
              </a:rPr>
              <a:t>10 homology models from 30–95% identity templates; best refined model scores 95.4% favoured under Lovell (the 1HVY crystal itself scores 92.2%).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669280"/>
            <a:ext cx="1161288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21295C"/>
                </a:solidFill>
                <a:latin typeface="Calibri"/>
              </a:rPr>
              <a:t>→ The honest null result of Phase 7-8 motivated Phase 14: instead of asking what mutants do to dUMP, ask what other molecules can bind to TYMS at the substrate site or elsewhere.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PHASE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Inhibitor design at four binding 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1. Active site · 2. Cofactor site · 3. Dimer interface · 4. Allosteric / surface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PHASE 14 /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Georgia"/>
              </a:rPr>
              <a:t>Four strategies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78899"/>
                </a:solidFill>
                <a:latin typeface="Calibri"/>
              </a:rPr>
              <a:t>Same receptor, same Vina engine, same ±0.85 kcal/mol noise floor — orthogonal sites.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61287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896"/>
                <a:gridCol w="1535587"/>
                <a:gridCol w="2879226"/>
                <a:gridCol w="1535587"/>
                <a:gridCol w="5278581"/>
              </a:tblGrid>
              <a:tr h="73152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Tier-1 anchors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reference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Headline finding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73152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Active 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dUMP, 5-FdUMP, BrdUMP, floxuridine, 5-FU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dUMP apo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nucleotides clean active-vs-prodrug gap (3 kcal/mol); 5-FdUMP within noise of dUMP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Cofactor site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MTX, raltitrexed, pemetrexed, nolatrexed, plevitrexed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raltitrexed apo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★ Plevitrexed (ZD9331) </a:t>
                      </a:r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−10.01 kcal/mol, Δ −0.88 above noise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Dimer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LR-octapeptide + scrambled control + 5 fragments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scrambled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documented null — Vina cannot resolve 8-mer peptides (Hassan 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Allosteric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exploratory fragment screen (no clinical anchors)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absolute Vina + FPocket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★ TYMS exposes an under-explored druggable cavity </a:t>
                      </a:r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(FPocket 0.994); drug-like fragments at −7.5 kcal/mol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065A82"/>
                </a:solidFill>
                <a:latin typeface="Calibri"/>
              </a:rPr>
              <a:t>Two real findings in 86 docked compounds — both subject to experimental follow-up.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778899"/>
                </a:solidFill>
                <a:latin typeface="Consolas"/>
              </a:rPr>
              <a:t>Full master CSV: 14_inhibitor_design/05_aggregate/master.csv (86 data rows)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STRATEGY 1 / ACTIVE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Georgia"/>
              </a:rPr>
              <a:t>S1 — Active site (dUMP-mimetic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Canonical Phase-7 box · 5 anchors + 7 RDKit decoys × 2 seeds × {apo, holo}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85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"/>
                <a:gridCol w="1097280"/>
                <a:gridCol w="1097280"/>
                <a:gridCol w="2286000"/>
              </a:tblGrid>
              <a:tr h="47026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Compound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Top1 apo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vs dUMP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7026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5-FdUMP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−9.04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canonical TYMS active species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BrdUMP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−8.88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−0.10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halogenated dUMP mimic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026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dUMP (control)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−8.78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Floxuridine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−7.48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+1.30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 phosphate → 1.5 kcal/mol penalty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026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decoy_CID6035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−7.47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+1.32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competing drug-like decoy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5-FU (prodrug)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C0392B"/>
                          </a:solidFill>
                          <a:latin typeface="Calibri"/>
                        </a:rPr>
                        <a:t>−4.95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+3.83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weak — as expected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55448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2C5F2D"/>
                </a:solidFill>
                <a:latin typeface="Calibri"/>
              </a:rPr>
              <a:t>1.31 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468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A0 re-dock RMSD
(passes 2.0 Å gate)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065A82"/>
                </a:solidFill>
                <a:latin typeface="Calibri"/>
              </a:rPr>
              <a:t>3 kcal/mol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023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active-vs-prodrug gap
(the enrichment signal)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Teaching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612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5-FdUMP (the canonical TYMS inhibitor) scores 0.27 kcal/mol better than dUMP — directionally right but within Vina's ±0.85 noise floor. The decoy-vs-prodrug separation IS clean (3 kcal/mol), and floxuridine (no phosphate) reveals that phosphate-clamp engagement is worth ~1.5 kcal/mol of binding energy.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STRATEGY 2 / COFACTOR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Georgia"/>
              </a:rPr>
              <a:t>S2 — Cofactor site (antifolates)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Box from holo D16 centroid · 6 anchors + 1 negative control + 4 decoys × 2 seeds × {apo, holo}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8046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"/>
                <a:gridCol w="1097280"/>
                <a:gridCol w="1371600"/>
                <a:gridCol w="2743200"/>
              </a:tblGrid>
              <a:tr h="444137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Compound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Top1 apo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vs raltitrexed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44137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★ Plevitrexed (ZD9331)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−10.01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−0.88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first Phase-14 hit above noise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Pemetrexed (S)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−9.72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−0.59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within noise; correct S-isomer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4137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pemetrexed (R) decoy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Vina is achiral — cannot distinguish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Methotrexate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−9.59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−0.46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weak TYMS / strong DHFR — cross-target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4137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Raltitrexed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−9.13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the species bound in holo crystal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Nolatrexed (AG-337)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−7.57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+1.56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 glutamate tail → weaker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61120" y="15544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E67E22"/>
                </a:solidFill>
                <a:latin typeface="Calibri"/>
              </a:rPr>
              <a:t>−10.01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Plevitrexed top1
kcal/mol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2918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065A82"/>
                </a:solidFill>
                <a:latin typeface="Calibri"/>
              </a:rPr>
              <a:t>−0.88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vs raltitrexed
(noise = ±0.85)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Teaching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11612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▸ </a:t>
            </a:r>
            <a:r>
              <a:rPr sz="1200" b="0">
                <a:solidFill>
                  <a:srgbClr val="333333"/>
                </a:solidFill>
                <a:latin typeface="Calibri"/>
              </a:rPr>
              <a:t>Plevitrexed (ZD9331) is reproducible across both seeds (−9.95, −10.07). Consistent with its sub-nanomolar TYMS Ki (</a:t>
            </a:r>
            <a:r>
              <a:rPr sz="1200" b="0">
                <a:solidFill>
                  <a:srgbClr val="333333"/>
                </a:solidFill>
                <a:latin typeface="Calibri"/>
              </a:rPr>
              <a:t>Jackman 1997</a:t>
            </a:r>
            <a:r>
              <a:rPr sz="1200" b="0">
                <a:solidFill>
                  <a:srgbClr val="333333"/>
                </a:solidFill>
                <a:latin typeface="Calibri"/>
              </a:rPr>
              <a:t>).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▸ </a:t>
            </a:r>
            <a:r>
              <a:rPr sz="1200" b="0">
                <a:solidFill>
                  <a:srgbClr val="333333"/>
                </a:solidFill>
                <a:latin typeface="Calibri"/>
              </a:rPr>
              <a:t>Vina is achiral — pemetrexed S (clinical) and R (decoy) score identically. Known limitation, not a TYMS-specific failure.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▸ </a:t>
            </a:r>
            <a:r>
              <a:rPr sz="1200" b="0">
                <a:solidFill>
                  <a:srgbClr val="333333"/>
                </a:solidFill>
                <a:latin typeface="Calibri"/>
              </a:rPr>
              <a:t>Holo state drops every antifolate ~3 kcal/mol — the already-bound raltitrexed sterically competes (clean demonstration of holo = 'displacement contest').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STRATEGY 3 / DIMER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Georgia"/>
              </a:rPr>
              <a:t>S3 — Dimer interface (PPI disruptor)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MDAnalysis 4 Å contact map · LR-octapeptide LSCQLYQR + scrambled control + 5 overlapping 4-mer fragments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61287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31519"/>
                <a:gridCol w="1828799"/>
                <a:gridCol w="1828799"/>
                <a:gridCol w="4480560"/>
              </a:tblGrid>
              <a:tr h="50292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Peptide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Top1 (mean)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LR8_LSCQLYQR (canonical)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canonical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+86.16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Vina cannot fit 8-mer in interface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LR8_scrambled_QLCRQSYL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scrambled control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+84.68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same failure mode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LR_4mer × 5 fragments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overlapping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−4.1 to −4.7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weak surface binding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657600"/>
            <a:ext cx="11612880" cy="13716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Calibri"/>
              </a:rPr>
              <a:t>Specificity vs scrambled = +1.48 kcal/mol  →  canonical worse than scrambled.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  <a:latin typeface="Calibri"/>
              </a:rPr>
              <a:t>Documented null result per Stop Condition S1. Rigid Vina is the wrong engine for ≥6-mer peptides (Hassan 2017). The right tools (HPEPDOCK, CABS-dock, FlexPepDock, RosettaDock) were unreachable / out-of-scope at execution time. The null is the correct conclusion, not a methodology failure.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065A82"/>
                </a:solidFill>
                <a:latin typeface="Calibri"/>
              </a:rPr>
              <a:t>Honest null results are findings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778899"/>
                </a:solidFill>
                <a:latin typeface="Calibri"/>
              </a:rPr>
              <a:t>An unhonestly-positive PPI ligand from rigid Vina would be misleading downstream.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STRATEGY 4 / ALLOSTERIC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612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Georgia"/>
              </a:rPr>
              <a:t>S4 — Allosteric: TYMS has an under-explored druggable cavity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Self-built FPocket 4.0 (arm64-darwin) · 33 detected pockets · 100 dock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 i="0">
                <a:solidFill>
                  <a:srgbClr val="E67E22"/>
                </a:solidFill>
                <a:latin typeface="Calibri"/>
              </a:rPr>
              <a:t>0.994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FPocket druggability
(cavity 18, near ceiling)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544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65A82"/>
                </a:solidFill>
                <a:latin typeface="Calibri"/>
              </a:rPr>
              <a:t>0.828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C2-symmetric mirror
(cavity 17, partner protomer)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 i="0">
                <a:solidFill>
                  <a:srgbClr val="E67E22"/>
                </a:solidFill>
                <a:latin typeface="Calibri"/>
              </a:rPr>
              <a:t>−7.52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1H-indazole top hit
kcal/mol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5544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 i="0">
                <a:solidFill>
                  <a:srgbClr val="E67E22"/>
                </a:solidFill>
                <a:latin typeface="Calibri"/>
              </a:rPr>
              <a:t>−7.28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Ibuprofen top hit
kcal/mol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383280"/>
          <a:ext cx="1161287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977"/>
                <a:gridCol w="4423954"/>
                <a:gridCol w="1327186"/>
                <a:gridCol w="1658982"/>
                <a:gridCol w="1990779"/>
              </a:tblGrid>
              <a:tr h="38100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Fragment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Common name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Cavity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Top1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Druggability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★ frag_CID7032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1H-indazole (kinase-inhibitor scaffold)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−7.52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★ frag_CID3672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ibuprofen (NSAID, COX1/2, promiscuous)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−7.28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0.994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frag_CID5564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tolnaftate (antifungal)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−6.88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frag_CID7032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1H-indazole (same ligand, low-drug cavity)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−6.86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frag_CID35814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flurbiprofen (NSAID)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−6.52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85216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Two unrelated drug-like fragments → 2 kcal/mol better at the druggable pocket than anywhere else on the surface.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778899"/>
                </a:solidFill>
                <a:latin typeface="Calibri"/>
              </a:rPr>
              <a:t>Refutes the v1 'no obvious druggable allosteric pocket' framing.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CAVITY 18 / TOP 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Georgia"/>
              </a:rPr>
              <a:t>1H-indazole at cavity 18  —  −7.52 kcal/mol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78899"/>
                </a:solidFill>
                <a:latin typeface="Calibri"/>
              </a:rPr>
              <a:t>CID 7032 · C₇H₆N₂ · MW 118 · kinase-inhibitor privileged scaffold (axitinib, niraparib, pazopanib)</a:t>
            </a:r>
          </a:p>
        </p:txBody>
      </p:sp>
      <p:pic>
        <p:nvPicPr>
          <p:cNvPr id="7" name="Picture 6" descr="cav18_CID7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5943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Residue contacts (chain B)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0" y="1874519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731520"/>
                <a:gridCol w="2194560"/>
              </a:tblGrid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Residue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(Å)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Interaction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Phe B55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H-bond + π + hydrophobic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Asn B201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H-bond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Leu B196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★ allosteric loop 181-197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Gly B197 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3.48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★ allosteric loop 181-197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Phe B200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π-stack + hydrophobic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Ile B83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hydrophobic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B54, Lys B52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hydrophobic walls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48640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Mechanism inferred from the 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612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  <a:latin typeface="Calibri"/>
              </a:rPr>
              <a:t>Three of ten contact residues (Leu196, Gly197, Phe200) are on the published allosteric communication loop 181-197 (Anderson 2012, Pozzi 2019). Pose geometry consistent with allosteric mechanism: occupying the loop face restricts hinge motion coupled to active-site Cys195.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CAVITY 18 / IBUPROFEN 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Georgia"/>
              </a:rPr>
              <a:t>Ibuprofen at cavity 18  —  −7.28 kcal/mol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78899"/>
                </a:solidFill>
                <a:latin typeface="Calibri"/>
              </a:rPr>
              <a:t>CID 3672 · C₁₃H₁₈O₂ · MW 206 · NSAID, COX1/2; promiscuous off-target binder (HSA, FABP4, CRBN)</a:t>
            </a:r>
          </a:p>
        </p:txBody>
      </p:sp>
      <p:pic>
        <p:nvPicPr>
          <p:cNvPr id="7" name="Picture 6" descr="cav18_CID36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5943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Residue contacts (chain B)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0" y="1874519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731520"/>
                <a:gridCol w="2194560"/>
              </a:tblGrid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Residue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(Å)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Interaction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★ Lys B283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★ salt bridge (carboxylate)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★ Lys B52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3.08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★ salt bridge (carboxylate)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Leu B196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allosteric loop 181-197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Phe B200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3.57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π-stack + hydrophobic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B54, Phe B55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hydrophobic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Ile B83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hydrophobic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Gly B197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allosteric loop 181-197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48640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The double-lysine salt-bridge clamp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612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  <a:latin typeface="Calibri"/>
              </a:rPr>
              <a:t>Lys52 and Lys283 are 14 sequence positions apart but ~6 Å apart in 3D — together they form a positively-charged anchor that clamps the deprotonated propanoate at pH 7.4. Any future cavity-18 lead should carry an anionic head-group to exploit this geometry.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CAVITY 18 /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Georgia"/>
              </a:rPr>
              <a:t>Why we trust the cavity-18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Two head-to-head sanity checks the result 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1. Same ligand, different pockets</a:t>
            </a:r>
          </a:p>
        </p:txBody>
      </p:sp>
      <p:pic>
        <p:nvPicPr>
          <p:cNvPr id="8" name="Picture 7" descr="cav2_CID7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12064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1H-indazole at cavity 2 (druggability 0.009):  −6.86 kcal/mol
Same molecule at cavity 18 (druggability 0.994):  −7.52 kcal/mol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E67E22"/>
                </a:solidFill>
                <a:latin typeface="Calibri"/>
              </a:rPr>
              <a:t>13 surface contacts vs 10 pocket contacts — more contacts, weaker binding.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2. Different ligands, same pocket</a:t>
            </a:r>
          </a:p>
        </p:txBody>
      </p:sp>
      <p:pic>
        <p:nvPicPr>
          <p:cNvPr id="12" name="Picture 11" descr="cav12_CID358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54864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12064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Flurbiprofen at cavity 12 (druggability 0.010):  −6.52 kcal/mol
Two unrelated scaffolds at cavity 18:  −7.5, −7.3 kcal/mol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852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E67E22"/>
                </a:solidFill>
                <a:latin typeface="Calibri"/>
              </a:rPr>
              <a:t>Indazole (H-bond + π) vs ibuprofen (salt-bridge + π) — different chemistries, same pocket.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21295C"/>
                </a:solidFill>
                <a:latin typeface="Calibri"/>
              </a:rPr>
              <a:t>More-contacts ≠ better-binding without concavity.  Cavity 18 discriminates chemistry — exactly what a real druggable pocket does.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CAVITY 18 / 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Georgia"/>
              </a:rPr>
              <a:t>Cavity-18 residues are unusually conserved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JS conservation across 10 TYMS orthologs · loop 181-197 highlighted in red</a:t>
            </a:r>
          </a:p>
        </p:txBody>
      </p:sp>
      <p:pic>
        <p:nvPicPr>
          <p:cNvPr id="7" name="Picture 6" descr="cavity18_con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77240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5544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100% conserved across 10 orthologs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65960"/>
            <a:ext cx="3474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Gly54</a:t>
            </a:r>
            <a:r>
              <a:rPr sz="1100" b="0">
                <a:solidFill>
                  <a:srgbClr val="333333"/>
                </a:solidFill>
                <a:latin typeface="Calibri"/>
              </a:rPr>
              <a:t> (hydrophobic floor)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Glu87</a:t>
            </a:r>
            <a:r>
              <a:rPr sz="1100" b="0">
                <a:solidFill>
                  <a:srgbClr val="333333"/>
                </a:solidFill>
                <a:latin typeface="Calibri"/>
              </a:rPr>
              <a:t> (polar handle for future leads)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Met190</a:t>
            </a:r>
            <a:r>
              <a:rPr sz="1100" b="0">
                <a:solidFill>
                  <a:srgbClr val="333333"/>
                </a:solidFill>
                <a:latin typeface="Calibri"/>
              </a:rPr>
              <a:t> (loop 181-197 ★)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Ala191</a:t>
            </a:r>
            <a:r>
              <a:rPr sz="1100" b="0">
                <a:solidFill>
                  <a:srgbClr val="333333"/>
                </a:solidFill>
                <a:latin typeface="Calibri"/>
              </a:rPr>
              <a:t> (loop 181-197 ★)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Leu196</a:t>
            </a:r>
            <a:r>
              <a:rPr sz="1100" b="0">
                <a:solidFill>
                  <a:srgbClr val="333333"/>
                </a:solidFill>
                <a:latin typeface="Calibri"/>
              </a:rPr>
              <a:t> (loop 181-197 ★)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Phe200</a:t>
            </a:r>
            <a:r>
              <a:rPr sz="1100" b="0">
                <a:solidFill>
                  <a:srgbClr val="333333"/>
                </a:solidFill>
                <a:latin typeface="Calibri"/>
              </a:rPr>
              <a:t> (π-stack anchor — both hits)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Asn201</a:t>
            </a:r>
            <a:r>
              <a:rPr sz="1100" b="0">
                <a:solidFill>
                  <a:srgbClr val="333333"/>
                </a:solidFill>
                <a:latin typeface="Calibri"/>
              </a:rPr>
              <a:t> (H-bond — indazole)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93776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E67E22"/>
                </a:solidFill>
                <a:latin typeface="Calibri"/>
              </a:rPr>
              <a:t>6 of the 7 ultra-conserved positions are contact residues for at least one top hit.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065A82"/>
                </a:solidFill>
                <a:latin typeface="Calibri"/>
              </a:rPr>
              <a:t>Conservation at the contact face = strong evidence the pocket is functionally meaningful, not a random surface patch.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CAVITY 18 / PHYLOGENY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Georgia"/>
              </a:rPr>
              <a:t>Phylogeny — cavity-18 mutations across orthologs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NJ tree (BLOSUM62 distance) annotated with # cavity-18 substitutions vs human</a:t>
            </a:r>
          </a:p>
        </p:txBody>
      </p:sp>
      <p:pic>
        <p:nvPicPr>
          <p:cNvPr id="7" name="Picture 6" descr="cavity18_phylogeny_ann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554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Substitutions vs human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46720" y="1965960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</a:tblGrid>
              <a:tr h="40005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Ortholog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#mut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0005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Homo sapiens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778899"/>
                          </a:solidFill>
                          <a:latin typeface="Calibri"/>
                        </a:rPr>
                        <a:t>0 (ref)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Mus musculus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C5F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Rattus norvegicus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2C5F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Drosophila / yeast / E. coli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L. casei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Bacteriophage T4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P. falciparum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E67E2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486400"/>
            <a:ext cx="116128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Mammals share the cavity signature near-identically.  Plasmodium falciparum diverges at 21 of 36 positions.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→ a species-selective allosteric TYMS inhibitor is structurally plausible at cavity 18 — distinct from the canonical active site, which is too conserved to give a selectivity handle.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CAVITY 18 / EXPLORE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Georgia"/>
              </a:rPr>
              <a:t>Interactive 3D viewers &amp; downloadable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3Dmol.js viewers — cavity-18 surface in wheat, allosteric loop 181-197 ∩ cavity = red, ligand = cyan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5760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Apo (no ligand)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67E22"/>
                </a:solidFill>
                <a:latin typeface="Calibri"/>
              </a:rPr>
              <a:t>Pocket structure on its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Toggle ligand later · zoom to pocket · zoom to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78899"/>
                </a:solidFill>
                <a:latin typeface="Consolas"/>
              </a:rPr>
              <a:t>cavity18_apo.html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463040"/>
            <a:ext cx="365760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645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+ 1H-indazole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57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67E22"/>
                </a:solidFill>
                <a:latin typeface="Calibri"/>
              </a:rPr>
              <a:t>★ top hit · −7.52 kcal/mol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5146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Polar contacts highlighted as yellow dashes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383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78899"/>
                </a:solidFill>
                <a:latin typeface="Consolas"/>
              </a:rPr>
              <a:t>cavity18_indazole.html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6" y="1463040"/>
            <a:ext cx="365760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86216" y="1645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+ Ibuprofen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6" y="2057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−7.28 · double-lysine salt-bridge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6" y="25146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Salt-bridge dashes to Lys52 / Lys283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3383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78899"/>
                </a:solidFill>
                <a:latin typeface="Consolas"/>
              </a:rPr>
              <a:t>cavity18_ibuprofen.html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Downloadable files (cavity18_evidence/downloads/)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11612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0">
                <a:solidFill>
                  <a:srgbClr val="21295C"/>
                </a:solidFill>
                <a:latin typeface="Consolas"/>
              </a:rPr>
              <a:t>cavity18_apo.pdb</a:t>
            </a:r>
            <a:r>
              <a:rPr sz="1100" b="0">
                <a:solidFill>
                  <a:srgbClr val="333333"/>
                </a:solidFill>
                <a:latin typeface="Calibri"/>
              </a:rPr>
              <a:t>  —  apo TYMS dimer with chain A/B labels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0">
                <a:solidFill>
                  <a:srgbClr val="21295C"/>
                </a:solidFill>
                <a:latin typeface="Consolas"/>
              </a:rPr>
              <a:t>cavity18_apo_pocket.pdb</a:t>
            </a:r>
            <a:r>
              <a:rPr sz="1100" b="0">
                <a:solidFill>
                  <a:srgbClr val="333333"/>
                </a:solidFill>
                <a:latin typeface="Calibri"/>
              </a:rPr>
              <a:t>  —  pocket residues only, B-factor = druggability × 100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0">
                <a:solidFill>
                  <a:srgbClr val="21295C"/>
                </a:solidFill>
                <a:latin typeface="Consolas"/>
              </a:rPr>
              <a:t>cavity18_indazole_complex.pdb</a:t>
            </a:r>
            <a:r>
              <a:rPr sz="1100" b="0">
                <a:solidFill>
                  <a:srgbClr val="333333"/>
                </a:solidFill>
                <a:latin typeface="Calibri"/>
              </a:rPr>
              <a:t>  —  apo + indazole top pose (HETATM IND Z)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0">
                <a:solidFill>
                  <a:srgbClr val="21295C"/>
                </a:solidFill>
                <a:latin typeface="Consolas"/>
              </a:rPr>
              <a:t>cavity18_ibuprofen_complex.pdb</a:t>
            </a:r>
            <a:r>
              <a:rPr sz="1100" b="0">
                <a:solidFill>
                  <a:srgbClr val="333333"/>
                </a:solidFill>
                <a:latin typeface="Calibri"/>
              </a:rPr>
              <a:t>  —  apo + ibuprofen top pose (HETATM IBU Z)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0">
                <a:solidFill>
                  <a:srgbClr val="21295C"/>
                </a:solidFill>
                <a:latin typeface="Consolas"/>
              </a:rPr>
              <a:t>cavity18_residues.csv</a:t>
            </a:r>
            <a:r>
              <a:rPr sz="1100" b="0">
                <a:solidFill>
                  <a:srgbClr val="333333"/>
                </a:solidFill>
                <a:latin typeface="Calibri"/>
              </a:rPr>
              <a:t>  —  36-row residue × ortholog × conservation table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0">
                <a:solidFill>
                  <a:srgbClr val="21295C"/>
                </a:solidFill>
                <a:latin typeface="Consolas"/>
              </a:rPr>
              <a:t>cavity18_mutations_per_taxon.json</a:t>
            </a:r>
            <a:r>
              <a:rPr sz="1100" b="0">
                <a:solidFill>
                  <a:srgbClr val="333333"/>
                </a:solidFill>
                <a:latin typeface="Calibri"/>
              </a:rPr>
              <a:t>  —  list of substitutions per ortholog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QUALITY /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Georgia"/>
              </a:rPr>
              <a:t>Multi-agent peer review — 6 rounds, all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78899"/>
                </a:solidFill>
                <a:latin typeface="Calibri"/>
              </a:rPr>
              <a:t>Same doer ↔ verifier convention used in Phases 1–13.  No compute spent until R3 PASS on the roadmap.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188720"/>
                <a:gridCol w="5486400"/>
                <a:gridCol w="3657600"/>
              </a:tblGrid>
              <a:tr h="65314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finding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Fixed in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65314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R1 (roadmap)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1">
                          <a:solidFill>
                            <a:srgbClr val="C0392B"/>
                          </a:solidFill>
                          <a:latin typeface="Calibri"/>
                        </a:rPr>
                        <a:t>8 of 10 v0 anchor CIDs pointed to the wrong compound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 (dUMP 22848 → Solanum steroid; nolatrexed 60198 → estrogen analog)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v1 — verified-anchors JSON committed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R2 (roadmap)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CONDITIONAL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CID gate still a no-op · PROLIF can't flag missing waters · HPEPDOCK had no fallback or timeout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v2 — direct verification + E1b script + CABS-dock envelope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5314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R3 (roadmap)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E1b alignment script crashed on ligand-only PDBQT · pemetrexed null InChIKey · ConnectivitySMILES wrong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v2-final — frame check redesigned, all 3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R4 (results)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CONDITIONAL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SASA column &gt; 1 · A0 RMSD failed gate · duplicate rows in S1 · S4 overstated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R4-fix commit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53142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R5 (verify)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1">
                          <a:solidFill>
                            <a:srgbClr val="2C5F2D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all 4 R4 blockers verified 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R6 (S4 v2)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CONDITIONAL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Pocket 17 is the C2-symmetric mirror of pocket 18 (positive sanity); 'cryptic' is wrong word; literature anchor (Anderson 2012, Pozzi 2019)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40000" rIns="40000" tIns="20000" bIns="20000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Documentation corrections applied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778899"/>
                </a:solidFill>
                <a:latin typeface="Consolas"/>
              </a:rPr>
              <a:t>All reviewer reports verbatim under 14_inhibitor_design/00_roadmap/reviews/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Georgia"/>
              </a:rPr>
              <a:t>What we found in Phase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  <a:latin typeface="Calibri"/>
              </a:rPr>
              <a:t>Real findings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Plevitrexed (ZD9331) — cofactor site, </a:t>
            </a:r>
            <a:r>
              <a:rPr sz="1100" b="1">
                <a:solidFill>
                  <a:srgbClr val="E67E22"/>
                </a:solidFill>
                <a:latin typeface="Calibri"/>
              </a:rPr>
              <a:t>−10.01 kcal/mol</a:t>
            </a:r>
            <a:r>
              <a:rPr sz="1100" b="0">
                <a:solidFill>
                  <a:srgbClr val="333333"/>
                </a:solidFill>
                <a:latin typeface="Calibri"/>
              </a:rPr>
              <a:t>, Δ −0.88 above the Vina ±0.85 kcal/mol noise floor.  Reproducible across both seeds.  Consistent with its published sub-nanomolar Ki (Jackman 1997).  Reproduced, not discovered.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Cavity 18 — under-explored druggable allosteric pocket.  </a:t>
            </a:r>
            <a:r>
              <a:rPr sz="1100" b="0">
                <a:solidFill>
                  <a:srgbClr val="333333"/>
                </a:solidFill>
                <a:latin typeface="Calibri"/>
              </a:rPr>
              <a:t>FPocket druggability 0.994 (and 0.828 C2 mirror).  Drug-like fragments dock at −7.5 kcal/mol via different chemistry (indazole H-bonds + π; ibuprofen double-Lys salt-bridge + π).  Overlaps the published allosteric communication loop 181-197 (Anderson 2012, Pozzi 2019).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Honest null results (and 1 reproduction)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669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Active site: </a:t>
            </a:r>
            <a:r>
              <a:rPr sz="1100" b="0">
                <a:solidFill>
                  <a:srgbClr val="333333"/>
                </a:solidFill>
                <a:latin typeface="Calibri"/>
              </a:rPr>
              <a:t>5-FdUMP best at −9.04, but within ±0.85 noise floor of dUMP.  Phase 7-8 kcal-noise problem inherited.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21295C"/>
                </a:solidFill>
                <a:latin typeface="Calibri"/>
              </a:rPr>
              <a:t>Dimer interface: </a:t>
            </a:r>
            <a:r>
              <a:rPr sz="1100" b="0">
                <a:solidFill>
                  <a:srgbClr val="333333"/>
                </a:solidFill>
                <a:latin typeface="Calibri"/>
              </a:rPr>
              <a:t>rigid Vina cannot fit 8-mer peptides at the interface (specificity vs scrambled = +1.48; canonical worse than scrambled).  Documented null per Stop Condition S1.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▸ </a:t>
            </a:r>
            <a:r>
              <a:rPr sz="1100" b="1">
                <a:solidFill>
                  <a:srgbClr val="C0392B"/>
                </a:solidFill>
                <a:latin typeface="Calibri"/>
              </a:rPr>
              <a:t>8 of 10 v0 anchor CIDs were the wrong compound — </a:t>
            </a:r>
            <a:r>
              <a:rPr sz="1100" b="0">
                <a:solidFill>
                  <a:srgbClr val="333333"/>
                </a:solidFill>
                <a:latin typeface="Calibri"/>
              </a:rPr>
              <a:t>this is the loud silent-failure mode that the R1+R2 reviewer rounds caught before any docking 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52160"/>
            <a:ext cx="11612880" cy="82296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Next steps (signposted, not executed)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Experimental fragment soak + crystal at cavity 18  ·  enzyme assay (kcat/Km) for cavity-18 ligands  ·  MM-GBSA / FEP rescoring  ·  GNINA CNN scoring (Apple-Silicon port pending)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Georgia"/>
              </a:rPr>
              <a:t>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C7293"/>
                </a:solidFill>
                <a:latin typeface="Calibri"/>
              </a:rPr>
              <a:t>Phase 14 — what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▸ </a:t>
            </a:r>
            <a:r>
              <a:rPr sz="1500" b="0">
                <a:solidFill>
                  <a:srgbClr val="CADCFC"/>
                </a:solidFill>
                <a:latin typeface="Calibri"/>
              </a:rPr>
              <a:t>TYMS is a two-site enzyme in the drug literature (substrate + cofactor).  </a:t>
            </a:r>
            <a:r>
              <a:rPr sz="1500" b="1">
                <a:solidFill>
                  <a:srgbClr val="FFFFFF"/>
                </a:solidFill>
                <a:latin typeface="Calibri"/>
              </a:rPr>
              <a:t>We found a plausible third site.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▸ </a:t>
            </a:r>
            <a:r>
              <a:rPr sz="1500" b="0">
                <a:solidFill>
                  <a:srgbClr val="CADCFC"/>
                </a:solidFill>
                <a:latin typeface="Calibri"/>
              </a:rPr>
              <a:t>FPocket druggability </a:t>
            </a:r>
            <a:r>
              <a:rPr sz="1500" b="1">
                <a:solidFill>
                  <a:srgbClr val="E67E22"/>
                </a:solidFill>
                <a:latin typeface="Calibri"/>
              </a:rPr>
              <a:t>0.994 </a:t>
            </a:r>
            <a:r>
              <a:rPr sz="1500" b="0">
                <a:solidFill>
                  <a:srgbClr val="CADCFC"/>
                </a:solidFill>
                <a:latin typeface="Calibri"/>
              </a:rPr>
              <a:t>on chain B + </a:t>
            </a:r>
            <a:r>
              <a:rPr sz="1500" b="1">
                <a:solidFill>
                  <a:srgbClr val="E67E22"/>
                </a:solidFill>
                <a:latin typeface="Calibri"/>
              </a:rPr>
              <a:t>0.828 </a:t>
            </a:r>
            <a:r>
              <a:rPr sz="1500" b="0">
                <a:solidFill>
                  <a:srgbClr val="CADCFC"/>
                </a:solidFill>
                <a:latin typeface="Calibri"/>
              </a:rPr>
              <a:t>C2 mirror on chain A — same pocket on both protomers, detected independently.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▸ </a:t>
            </a:r>
            <a:r>
              <a:rPr sz="1500" b="0">
                <a:solidFill>
                  <a:srgbClr val="CADCFC"/>
                </a:solidFill>
                <a:latin typeface="Calibri"/>
              </a:rPr>
              <a:t>Two unrelated drug-like fragments (1H-indazole, ibuprofen) bind at </a:t>
            </a:r>
            <a:r>
              <a:rPr sz="1500" b="1">
                <a:solidFill>
                  <a:srgbClr val="E67E22"/>
                </a:solidFill>
                <a:latin typeface="Calibri"/>
              </a:rPr>
              <a:t>−7.5 kcal/mol</a:t>
            </a:r>
            <a:r>
              <a:rPr sz="1500" b="0">
                <a:solidFill>
                  <a:srgbClr val="CADCFC"/>
                </a:solidFill>
                <a:latin typeface="Calibri"/>
              </a:rPr>
              <a:t> via different chemistries — proving the pocket discriminates ligands.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▸ </a:t>
            </a:r>
            <a:r>
              <a:rPr sz="1500" b="0">
                <a:solidFill>
                  <a:srgbClr val="CADCFC"/>
                </a:solidFill>
                <a:latin typeface="Calibri"/>
              </a:rPr>
              <a:t>6 of 7 ultra-conserved cavity residues are exactly the contact face — the pocket is functionally meaningful, not a random surface patch.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▸ </a:t>
            </a:r>
            <a:r>
              <a:rPr sz="1500" b="0">
                <a:solidFill>
                  <a:srgbClr val="CADCFC"/>
                </a:solidFill>
                <a:latin typeface="Calibri"/>
              </a:rPr>
              <a:t>Plasmodium falciparum has 21 cavity-18 substitutions vs human — </a:t>
            </a:r>
            <a:r>
              <a:rPr sz="1500" b="1">
                <a:solidFill>
                  <a:srgbClr val="FFFFFF"/>
                </a:solidFill>
                <a:latin typeface="Calibri"/>
              </a:rPr>
              <a:t>structurally plausible species-selective allosteric handle.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▸ </a:t>
            </a:r>
            <a:r>
              <a:rPr sz="1500" b="0">
                <a:solidFill>
                  <a:srgbClr val="CADCFC"/>
                </a:solidFill>
                <a:latin typeface="Calibri"/>
              </a:rPr>
              <a:t>Pharmacophore proposal: </a:t>
            </a:r>
            <a:r>
              <a:rPr sz="1500" b="1">
                <a:solidFill>
                  <a:srgbClr val="FFFFFF"/>
                </a:solidFill>
                <a:latin typeface="Calibri"/>
              </a:rPr>
              <a:t>anionic head (Lys52 + Lys283 clamp) + aromatic body (Phe200 π-stack) + hydrophobic tail (Leu196 / Gly197 / Ile83 wall).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C7293"/>
                </a:solidFill>
                <a:latin typeface="Calibri"/>
              </a:rPr>
              <a:t>github.com/ArioMoniri/aminak  ·  Phase 14  ·  all artefacts + reviewer reports on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